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6B6D4"/>
                </a:solidFill>
              </a:defRPr>
            </a:pPr>
            <a:r>
              <a:t>DESIGN AND DEVELOPMENT OF A</a:t>
            </a:r>
            <a:br/>
            <a:r>
              <a:t>CLASSICAL CRYPTOGRAPHY TOOLKIT</a:t>
            </a:r>
          </a:p>
          <a:p>
            <a:pPr>
              <a:defRPr sz="1800">
                <a:solidFill>
                  <a:srgbClr val="10B981"/>
                </a:solidFill>
              </a:defRPr>
            </a:pPr>
            <a:r>
              <a:t>An Interactive Educational Platform for Classical Encryption and Decryption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3840480"/>
            <a:ext cx="10332720" cy="22860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4023360"/>
            <a:ext cx="978408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00">
                <a:solidFill>
                  <a:srgbClr val="06B6D4"/>
                </a:solidFill>
              </a:defRPr>
            </a:pPr>
            <a:r>
              <a:t>ACADEMIC SUBMISSION DETAILS</a:t>
            </a:r>
          </a:p>
          <a:p>
            <a:pPr>
              <a:defRPr sz="1400">
                <a:solidFill>
                  <a:srgbClr val="F3F4F6"/>
                </a:solidFill>
              </a:defRPr>
            </a:pPr>
            <a:r>
              <a:t>• Course: Network Security</a:t>
            </a:r>
          </a:p>
          <a:p>
            <a:pPr>
              <a:defRPr sz="1400">
                <a:solidFill>
                  <a:srgbClr val="F3F4F6"/>
                </a:solidFill>
              </a:defRPr>
            </a:pPr>
            <a:r>
              <a:t>• Class: Final Year (ECM), Academic Year 2026–27</a:t>
            </a:r>
          </a:p>
          <a:p>
            <a:pPr>
              <a:defRPr sz="1400">
                <a:solidFill>
                  <a:srgbClr val="F3F4F6"/>
                </a:solidFill>
              </a:defRPr>
            </a:pPr>
            <a:r>
              <a:t>• Student Name: [ENTER YOUR NAME] | Roll No: [ENTER YOUR ROLL NUMBER]</a:t>
            </a:r>
          </a:p>
          <a:p>
            <a:pPr>
              <a:defRPr sz="1400">
                <a:solidFill>
                  <a:srgbClr val="F3F4F6"/>
                </a:solidFill>
              </a:defRPr>
            </a:pPr>
            <a:r>
              <a:t>• Batch: [ENTER YOUR BATCH] | Submission Date: [ENTER SUBMISSION 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NETWORK SECURITY MINI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3F4F6"/>
                </a:solidFill>
              </a:defRPr>
            </a:pPr>
            <a:r>
              <a:t>Objectives, Problem Statement &amp; Motivation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11827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06B6D4"/>
                </a:solidFill>
              </a:defRPr>
            </a:pPr>
            <a:r>
              <a:t>PROBLEM STATEMENT &amp; MOTIVATION</a:t>
            </a:r>
          </a:p>
          <a:p>
            <a:pPr>
              <a:defRPr sz="1300">
                <a:solidFill>
                  <a:srgbClr val="F3F4F6"/>
                </a:solidFill>
              </a:defRPr>
            </a:pPr>
            <a:r>
              <a:t>• Abstract Cryptographic Concepts: Students frequently struggle to visualize the mathematical mechanisms of classical ciphers.</a:t>
            </a:r>
          </a:p>
          <a:p>
            <a:pPr>
              <a:defRPr sz="1300">
                <a:solidFill>
                  <a:srgbClr val="F3F4F6"/>
                </a:solidFill>
              </a:defRPr>
            </a:pPr>
            <a:r>
              <a:t>• Scattered &amp; Incomplete Implementations: Most online tools lack mathematical rigor, handle edge cases poorly, or omit reversible decryption.</a:t>
            </a:r>
          </a:p>
          <a:p>
            <a:pPr>
              <a:defRPr sz="1300">
                <a:solidFill>
                  <a:srgbClr val="F3F4F6"/>
                </a:solidFill>
              </a:defRPr>
            </a:pPr>
            <a:r>
              <a:t>• Vulnerability Misconceptions: Learners often conflate algorithmic speed with cryptographic security.</a:t>
            </a:r>
          </a:p>
          <a:p>
            <a:pPr>
              <a:defRPr sz="1300">
                <a:solidFill>
                  <a:srgbClr val="F3F4F6"/>
                </a:solidFill>
              </a:defRPr>
            </a:pPr>
            <a:r>
              <a:t>• Educational Need: A unified, offline, interactive laboratory providing mathematically verified algorithms with transparent execution steps.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11827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10B981"/>
                </a:solidFill>
              </a:defRPr>
            </a:pPr>
            <a:r>
              <a:t>PROJECT OBJECTIVES</a:t>
            </a:r>
          </a:p>
          <a:p>
            <a:pPr>
              <a:defRPr sz="1300">
                <a:solidFill>
                  <a:srgbClr val="F3F4F6"/>
                </a:solidFill>
              </a:defRPr>
            </a:pPr>
            <a:r>
              <a:t>• Implement 8 Classical Ciphers: Full mathematical implementation of 6 substitution and 2 transposition algorithms.</a:t>
            </a:r>
          </a:p>
          <a:p>
            <a:pPr>
              <a:defRPr sz="1300">
                <a:solidFill>
                  <a:srgbClr val="F3F4F6"/>
                </a:solidFill>
              </a:defRPr>
            </a:pPr>
            <a:r>
              <a:t>• Lossless Round-Trip Decryption: Guarantee that valid inputs and keys perfectly reconstruct the original message.</a:t>
            </a:r>
          </a:p>
          <a:p>
            <a:pPr>
              <a:defRPr sz="1300">
                <a:solidFill>
                  <a:srgbClr val="F3F4F6"/>
                </a:solidFill>
              </a:defRPr>
            </a:pPr>
            <a:r>
              <a:t>• Interactive Cybersecurity UI: Build a dark-themed Streamlit dashboard with instant step traces and matrix visualizers.</a:t>
            </a:r>
          </a:p>
          <a:p>
            <a:pPr>
              <a:defRPr sz="1300">
                <a:solidFill>
                  <a:srgbClr val="F3F4F6"/>
                </a:solidFill>
              </a:defRPr>
            </a:pPr>
            <a:r>
              <a:t>• High-Precision Benchmarking: Compare algorithm throughput and execution time using Python's time.perf_counter().</a:t>
            </a:r>
          </a:p>
          <a:p>
            <a:pPr>
              <a:defRPr sz="1300">
                <a:solidFill>
                  <a:srgbClr val="F3F4F6"/>
                </a:solidFill>
              </a:defRPr>
            </a:pPr>
            <a:r>
              <a:t>• Lossless File Processing: Provide secure text-file encryption and decryption with embedded metadata.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NETWORK SECURITY MINI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3F4F6"/>
                </a:solidFill>
              </a:defRPr>
            </a:pPr>
            <a:r>
              <a:t>System Architecture &amp; Operational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4572000"/>
          </a:xfrm>
          <a:prstGeom prst="roundRect">
            <a:avLst/>
          </a:prstGeom>
          <a:solidFill>
            <a:srgbClr val="111827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10149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6B6D4"/>
                </a:solidFill>
              </a:defRPr>
            </a:pPr>
            <a:r>
              <a:t>MODULAR LAYERED ARCHITECTURE</a:t>
            </a:r>
          </a:p>
          <a:p>
            <a:pPr>
              <a:defRPr sz="1300">
                <a:solidFill>
                  <a:srgbClr val="F3F4F6"/>
                </a:solidFill>
              </a:defRPr>
            </a:pPr>
            <a:r>
              <a:t>✔ Presentation Layer (Streamlit): Cyber-dark interface with sidebar navigation, 8 views, interactive widgets, step breakdowns, and Matplotlib timing graphs.</a:t>
            </a:r>
          </a:p>
          <a:p>
            <a:pPr>
              <a:defRPr sz="1300">
                <a:solidFill>
                  <a:srgbClr val="F3F4F6"/>
                </a:solidFill>
              </a:defRPr>
            </a:pPr>
            <a:r>
              <a:t>✔ Validation Layer (modules/validation.py): Centralized gatekeeper enforcing coprime determinants mod 26, 26-letter unique alphabets, keyword formats, and rail boundaries.</a:t>
            </a:r>
          </a:p>
          <a:p>
            <a:pPr>
              <a:defRPr sz="1300">
                <a:solidFill>
                  <a:srgbClr val="F3F4F6"/>
                </a:solidFill>
              </a:defRPr>
            </a:pPr>
            <a:r>
              <a:t>✔ Cryptographic Engine (crypto/): Pure mathematical Python implementations of Caesar, Monoalphabetic, Playfair, Hill, Vigenère, OTP, Rail Fence, and Columnar Transposition.</a:t>
            </a:r>
          </a:p>
          <a:p>
            <a:pPr>
              <a:defRPr sz="1300">
                <a:solidFill>
                  <a:srgbClr val="F3F4F6"/>
                </a:solidFill>
              </a:defRPr>
            </a:pPr>
            <a:r>
              <a:t>✔ File Management Layer (modules/file_handler.py): Handles UTF-8 text file packaging with structured metadata headers (# CIPHER, # TIMESTAMP, # METADATA) for seamless round-trips.</a:t>
            </a:r>
          </a:p>
          <a:p>
            <a:pPr>
              <a:defRPr sz="1300">
                <a:solidFill>
                  <a:srgbClr val="F3F4F6"/>
                </a:solidFill>
              </a:defRPr>
            </a:pPr>
            <a:r>
              <a:t>✔ Performance Benchmarking (modules/comparison.py): Microsecond benchmarking utilizing time.perf_counter() over multiple runs with round-trip verification.</a:t>
            </a:r>
          </a:p>
          <a:p>
            <a:pPr>
              <a:defRPr sz="1300">
                <a:solidFill>
                  <a:srgbClr val="F3F4F6"/>
                </a:solidFill>
              </a:defRPr>
            </a:pPr>
            <a:r>
              <a:t>✔ Testing Suite (tests/): 51 automated unit tests executed via pytest verifying edge cases, boundary conditions, and textbook test vectors.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NETWORK SECURITY MINI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3F4F6"/>
                </a:solidFill>
              </a:defRPr>
            </a:pPr>
            <a:r>
              <a:t>The Eight Implemented Algorithms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11827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06B6D4"/>
                </a:solidFill>
              </a:defRPr>
            </a:pPr>
            <a:r>
              <a:t>SUBSTITUTION CIPHERS (6)</a:t>
            </a:r>
          </a:p>
          <a:p>
            <a:pPr>
              <a:defRPr sz="1200">
                <a:solidFill>
                  <a:srgbClr val="F3F4F6"/>
                </a:solidFill>
              </a:defRPr>
            </a:pPr>
            <a:r>
              <a:t>• 1. Caesar Cipher: C = (P + k) mod 26. Shift of 5: 'NETWORK' -&gt; 'SJYBTWP'.</a:t>
            </a:r>
          </a:p>
          <a:p>
            <a:pPr>
              <a:defRPr sz="1200">
                <a:solidFill>
                  <a:srgbClr val="F3F4F6"/>
                </a:solidFill>
              </a:defRPr>
            </a:pPr>
            <a:r>
              <a:t>• 2. Monoalphabetic: 26! keyspace (~4x10^26). Preserves case, vulnerable to frequency analysis.</a:t>
            </a:r>
          </a:p>
          <a:p>
            <a:pPr>
              <a:defRPr sz="1200">
                <a:solidFill>
                  <a:srgbClr val="F3F4F6"/>
                </a:solidFill>
              </a:defRPr>
            </a:pPr>
            <a:r>
              <a:t>• 3. Playfair: 5x5 key matrix. Digraph substitution (Row/Col/Rect). Combines I/J, resolves double letters with 'X'.</a:t>
            </a:r>
          </a:p>
          <a:p>
            <a:pPr>
              <a:defRPr sz="1200">
                <a:solidFill>
                  <a:srgbClr val="F3F4F6"/>
                </a:solidFill>
              </a:defRPr>
            </a:pPr>
            <a:r>
              <a:t>• 4. Hill Cipher: 2x2 matrix mod 26. Coprime det gcd(det, 26)=1. Matrix mult C = (K·P) mod 26.</a:t>
            </a:r>
          </a:p>
          <a:p>
            <a:pPr>
              <a:defRPr sz="1200">
                <a:solidFill>
                  <a:srgbClr val="F3F4F6"/>
                </a:solidFill>
              </a:defRPr>
            </a:pPr>
            <a:r>
              <a:t>• 5. Vigenère: Polyalphabetic periodic key. Preserves casing &amp; punctuation without advancing key stream.</a:t>
            </a:r>
          </a:p>
          <a:p>
            <a:pPr>
              <a:defRPr sz="1200">
                <a:solidFill>
                  <a:srgbClr val="F3F4F6"/>
                </a:solidFill>
              </a:defRPr>
            </a:pPr>
            <a:r>
              <a:t>• 6. One-Time Pad: Perfect secrecy if key is truly random, secret, equal length, and used exactly once.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11827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10B981"/>
                </a:solidFill>
              </a:defRPr>
            </a:pPr>
            <a:r>
              <a:t>TRANSPOSITION CIPHERS (2)</a:t>
            </a:r>
          </a:p>
          <a:p>
            <a:pPr>
              <a:defRPr sz="1250">
                <a:solidFill>
                  <a:srgbClr val="F3F4F6"/>
                </a:solidFill>
              </a:defRPr>
            </a:pPr>
            <a:r>
              <a:t>• 7. Rail Fence (Zigzag): Characters written in diagonal zigzag across d rails and read horizontally. Preserves all characters and spacing.</a:t>
            </a:r>
          </a:p>
          <a:p>
            <a:pPr>
              <a:defRPr sz="1250">
                <a:solidFill>
                  <a:srgbClr val="F3F4F6"/>
                </a:solidFill>
              </a:defRPr>
            </a:pPr>
            <a:r>
              <a:t>• 8. Columnar Transposition: Plaintext written into rectangle of width k; columns read in alphabetical order of key.</a:t>
            </a:r>
          </a:p>
          <a:p>
            <a:pPr>
              <a:defRPr sz="1250">
                <a:solidFill>
                  <a:srgbClr val="F3F4F6"/>
                </a:solidFill>
              </a:defRPr>
            </a:pPr>
            <a:r>
              <a:t>• Tie-Breaking Rule: Duplicate key letters are ordered left-to-right via stable sorting.</a:t>
            </a:r>
          </a:p>
          <a:p>
            <a:pPr>
              <a:defRPr sz="1250">
                <a:solidFill>
                  <a:srgbClr val="F3F4F6"/>
                </a:solidFill>
              </a:defRPr>
            </a:pPr>
            <a:r>
              <a:t>• Irregular Rows: Handles incomplete rows dynamically without mandatory padding, or optionally pads with stored metadata.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NETWORK SECURITY MINI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3F4F6"/>
                </a:solidFill>
              </a:defRPr>
            </a:pPr>
            <a:r>
              <a:t>Verification, Testing &amp; Sample Results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4572000"/>
          </a:xfrm>
          <a:prstGeom prst="roundRect">
            <a:avLst/>
          </a:prstGeom>
          <a:solidFill>
            <a:srgbClr val="111827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10149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10B981"/>
                </a:solidFill>
              </a:defRPr>
            </a:pPr>
            <a:r>
              <a:t>COMPREHENSIVE AUTOMATED TESTING (51 / 51 PASSED)</a:t>
            </a:r>
          </a:p>
          <a:p>
            <a:pPr>
              <a:defRPr sz="1250">
                <a:solidFill>
                  <a:srgbClr val="F3F4F6"/>
                </a:solidFill>
              </a:defRPr>
            </a:pPr>
            <a:r>
              <a:t>✔ Caesar Reference Vector: 'NETWORK SECURITY' with key 5 -&gt; 'SJYBTWP XJHZWNYD' -&gt; Decrypted: 'NETWORK SECURITY'. [PASSED]</a:t>
            </a:r>
          </a:p>
          <a:p>
            <a:pPr>
              <a:defRPr sz="1250">
                <a:solidFill>
                  <a:srgbClr val="F3F4F6"/>
                </a:solidFill>
              </a:defRPr>
            </a:pPr>
            <a:r>
              <a:t>✔ Vigenère Reference Vector: 'ATTACKATDAWN' with 'LEMON' -&gt; 'LXFOPVEFRNHR' -&gt; Decrypted: 'ATTACKATDAWN'. [PASSED]</a:t>
            </a:r>
          </a:p>
          <a:p>
            <a:pPr>
              <a:defRPr sz="1250">
                <a:solidFill>
                  <a:srgbClr val="F3F4F6"/>
                </a:solidFill>
              </a:defRPr>
            </a:pPr>
            <a:r>
              <a:t>✔ Hill Matrix Validation: Accepted [[3,3],[2,5]] (det=9). Rejected singular det=0, even det=2, factor-13 det=13. [PASSED]</a:t>
            </a:r>
          </a:p>
          <a:p>
            <a:pPr>
              <a:defRPr sz="1250">
                <a:solidFill>
                  <a:srgbClr val="F3F4F6"/>
                </a:solidFill>
              </a:defRPr>
            </a:pPr>
            <a:r>
              <a:t>✔ Hill Textbook Vector: 'HELP' with [[3,3],[2,5]] -&gt; 'HIAT' -&gt; Decrypted: 'HELP'. [PASSED]</a:t>
            </a:r>
          </a:p>
          <a:p>
            <a:pPr>
              <a:defRPr sz="1250">
                <a:solidFill>
                  <a:srgbClr val="F3F4F6"/>
                </a:solidFill>
              </a:defRPr>
            </a:pPr>
            <a:r>
              <a:t>✔ Playfair Digraphs: 'BALLOON' with 'MONARCHY' -&gt; correct filler 'X' insertion -&gt; digraphs restored. [PASSED]</a:t>
            </a:r>
          </a:p>
          <a:p>
            <a:pPr>
              <a:defRPr sz="1250">
                <a:solidFill>
                  <a:srgbClr val="F3F4F6"/>
                </a:solidFill>
              </a:defRPr>
            </a:pPr>
            <a:r>
              <a:t>✔ Rail Fence Zigzag: 'DEFEND THE EAST WALL' with 3 rails -&gt; round-trip restored with boundary handling. [PASSED]</a:t>
            </a:r>
          </a:p>
          <a:p>
            <a:pPr>
              <a:defRPr sz="1250">
                <a:solidFill>
                  <a:srgbClr val="F3F4F6"/>
                </a:solidFill>
              </a:defRPr>
            </a:pPr>
            <a:r>
              <a:t>✔ Columnar Transposition: 'DEFEND THE EAST WALL AT DAWN!' with 'GERMAN' -&gt; lossless irregular recovery. [PASSED]</a:t>
            </a:r>
          </a:p>
          <a:p>
            <a:pPr>
              <a:defRPr sz="1250">
                <a:solidFill>
                  <a:srgbClr val="F3F4F6"/>
                </a:solidFill>
              </a:defRPr>
            </a:pPr>
            <a:r>
              <a:t>✔ File Round-Trip: UTF-8 structured packaging with metadata headers -&gt; flawless recovery of multi-line files. [PASSED]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NETWORK SECURITY MINI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3F4F6"/>
                </a:solidFill>
              </a:defRPr>
            </a:pPr>
            <a:r>
              <a:t>Results, Limitations, Future Scope &amp; 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11827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06B6D4"/>
                </a:solidFill>
              </a:defRPr>
            </a:pPr>
            <a:r>
              <a:t>LIMITATIONS &amp; SECURITY CRITIQUE</a:t>
            </a:r>
          </a:p>
          <a:p>
            <a:pPr>
              <a:defRPr sz="1200">
                <a:solidFill>
                  <a:srgbClr val="F3F4F6"/>
                </a:solidFill>
              </a:defRPr>
            </a:pPr>
            <a:r>
              <a:t>• Vulnerability to Frequency Analysis: Monoalphabetic and Caesar preserve single-letter frequency signatures of natural language.</a:t>
            </a:r>
          </a:p>
          <a:p>
            <a:pPr>
              <a:defRPr sz="1200">
                <a:solidFill>
                  <a:srgbClr val="F3F4F6"/>
                </a:solidFill>
              </a:defRPr>
            </a:pPr>
            <a:r>
              <a:t>• Small Key Spaces: Caesar (25 keys) can be brute-forced instantly; Hill 2x2 matrix can be recovered with known plaintext pairs.</a:t>
            </a:r>
          </a:p>
          <a:p>
            <a:pPr>
              <a:defRPr sz="1200">
                <a:solidFill>
                  <a:srgbClr val="F3F4F6"/>
                </a:solidFill>
              </a:defRPr>
            </a:pPr>
            <a:r>
              <a:t>• Lack of Authentication / Integrity: Classical ciphers do not protect against tampering, bit-flipping, or malleability.</a:t>
            </a:r>
          </a:p>
          <a:p>
            <a:pPr>
              <a:defRPr sz="1200">
                <a:solidFill>
                  <a:srgbClr val="F3F4F6"/>
                </a:solidFill>
              </a:defRPr>
            </a:pPr>
            <a:r>
              <a:t>• Not Suitable for Modern Security: Must never be deployed for confidential communications. Modern security requires AES-256-GCM, RSA-4096, and ECC.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11827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10B981"/>
                </a:solidFill>
              </a:defRPr>
            </a:pPr>
            <a:r>
              <a:t>CONCLUSION &amp; FUTURE SCOPE</a:t>
            </a:r>
          </a:p>
          <a:p>
            <a:pPr>
              <a:defRPr sz="1200">
                <a:solidFill>
                  <a:srgbClr val="F3F4F6"/>
                </a:solidFill>
              </a:defRPr>
            </a:pPr>
            <a:r>
              <a:t>• Successful Delivery: Built a production-grade, menu-driven toolkit with 8 classical algorithms, 100% passing tests, and modern cyber UI.</a:t>
            </a:r>
          </a:p>
          <a:p>
            <a:pPr>
              <a:defRPr sz="1200">
                <a:solidFill>
                  <a:srgbClr val="F3F4F6"/>
                </a:solidFill>
              </a:defRPr>
            </a:pPr>
            <a:r>
              <a:t>• Educational Value: Demystifies historical cipher mathematics through real-time matrix, digraph, and zigzag step traces.</a:t>
            </a:r>
          </a:p>
          <a:p>
            <a:pPr>
              <a:defRPr sz="1200">
                <a:solidFill>
                  <a:srgbClr val="F3F4F6"/>
                </a:solidFill>
              </a:defRPr>
            </a:pPr>
            <a:r>
              <a:t>• Future Enhancements: Integrate automated cryptanalysis modules (Index of Coincidence, Kasiski examination, n-gram frequency solvers).</a:t>
            </a:r>
          </a:p>
          <a:p>
            <a:pPr>
              <a:defRPr sz="1200">
                <a:solidFill>
                  <a:srgbClr val="F3F4F6"/>
                </a:solidFill>
              </a:defRPr>
            </a:pPr>
            <a:r>
              <a:t>• Extended Support: Implement mechanical cipher simulation (Enigma M3/M4 machine) and 3x3 Hill matrices.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